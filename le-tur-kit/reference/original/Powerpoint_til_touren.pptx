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1" roundtripDataSignature="AMtx7mi6/FFQr0RoowcH+ve4puGEp2dB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993406c73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993406c73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993406c73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4" name="Google Shape;2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9" name="Shape 39"/>
        <p:cNvGrpSpPr/>
        <p:nvPr/>
      </p:nvGrpSpPr>
      <p:grpSpPr>
        <a:xfrm>
          <a:off x="0" y="0"/>
          <a:ext cx="0" cy="0"/>
          <a:chOff x="0" y="0"/>
          <a:chExt cx="0" cy="0"/>
        </a:xfrm>
      </p:grpSpPr>
      <p:sp>
        <p:nvSpPr>
          <p:cNvPr id="40" name="Google Shape;40;p1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2" name="Google Shape;4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8" name="Google Shape;4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2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1" name="Google Shape;61;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3" name="Google Shape;63;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9" name="Google Shape;79;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0" name="Google Shape;80;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27"/>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86" name="Google Shape;86;p2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7" name="Google Shape;87;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2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2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2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2" Type="http://schemas.openxmlformats.org/officeDocument/2006/relationships/theme" Target="../theme/theme2.xml"/><Relationship Id="rId9" Type="http://schemas.openxmlformats.org/officeDocument/2006/relationships/slideLayout" Target="../slideLayouts/slideLayout11.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12" name="Google Shape;1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3" name="Google Shape;1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4" name="Google Shape;1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Calibri"/>
                <a:ea typeface="Calibri"/>
                <a:cs typeface="Calibri"/>
                <a:sym typeface="Calibri"/>
              </a:defRPr>
            </a:lvl1pPr>
            <a:lvl2pPr indent="0" lvl="1" marL="0" marR="0" rtl="0" algn="r">
              <a:spcBef>
                <a:spcPts val="0"/>
              </a:spcBef>
              <a:buNone/>
              <a:defRPr b="0" i="0" sz="1200" u="none" cap="none" strike="noStrike">
                <a:solidFill>
                  <a:schemeClr val="lt1"/>
                </a:solidFill>
                <a:latin typeface="Calibri"/>
                <a:ea typeface="Calibri"/>
                <a:cs typeface="Calibri"/>
                <a:sym typeface="Calibri"/>
              </a:defRPr>
            </a:lvl2pPr>
            <a:lvl3pPr indent="0" lvl="2" marL="0" marR="0" rtl="0" algn="r">
              <a:spcBef>
                <a:spcPts val="0"/>
              </a:spcBef>
              <a:buNone/>
              <a:defRPr b="0" i="0" sz="1200" u="none" cap="none" strike="noStrike">
                <a:solidFill>
                  <a:schemeClr val="lt1"/>
                </a:solidFill>
                <a:latin typeface="Calibri"/>
                <a:ea typeface="Calibri"/>
                <a:cs typeface="Calibri"/>
                <a:sym typeface="Calibri"/>
              </a:defRPr>
            </a:lvl3pPr>
            <a:lvl4pPr indent="0" lvl="3" marL="0" marR="0" rtl="0" algn="r">
              <a:spcBef>
                <a:spcPts val="0"/>
              </a:spcBef>
              <a:buNone/>
              <a:defRPr b="0" i="0" sz="1200" u="none" cap="none" strike="noStrike">
                <a:solidFill>
                  <a:schemeClr val="lt1"/>
                </a:solidFill>
                <a:latin typeface="Calibri"/>
                <a:ea typeface="Calibri"/>
                <a:cs typeface="Calibri"/>
                <a:sym typeface="Calibri"/>
              </a:defRPr>
            </a:lvl4pPr>
            <a:lvl5pPr indent="0" lvl="4" marL="0" marR="0" rtl="0" algn="r">
              <a:spcBef>
                <a:spcPts val="0"/>
              </a:spcBef>
              <a:buNone/>
              <a:defRPr b="0" i="0" sz="1200" u="none" cap="none" strike="noStrike">
                <a:solidFill>
                  <a:schemeClr val="lt1"/>
                </a:solidFill>
                <a:latin typeface="Calibri"/>
                <a:ea typeface="Calibri"/>
                <a:cs typeface="Calibri"/>
                <a:sym typeface="Calibri"/>
              </a:defRPr>
            </a:lvl5pPr>
            <a:lvl6pPr indent="0" lvl="5" marL="0" marR="0" rtl="0" algn="r">
              <a:spcBef>
                <a:spcPts val="0"/>
              </a:spcBef>
              <a:buNone/>
              <a:defRPr b="0" i="0" sz="1200" u="none" cap="none" strike="noStrike">
                <a:solidFill>
                  <a:schemeClr val="lt1"/>
                </a:solidFill>
                <a:latin typeface="Calibri"/>
                <a:ea typeface="Calibri"/>
                <a:cs typeface="Calibri"/>
                <a:sym typeface="Calibri"/>
              </a:defRPr>
            </a:lvl6pPr>
            <a:lvl7pPr indent="0" lvl="6" marL="0" marR="0" rtl="0" algn="r">
              <a:spcBef>
                <a:spcPts val="0"/>
              </a:spcBef>
              <a:buNone/>
              <a:defRPr b="0" i="0" sz="1200" u="none" cap="none" strike="noStrike">
                <a:solidFill>
                  <a:schemeClr val="lt1"/>
                </a:solidFill>
                <a:latin typeface="Calibri"/>
                <a:ea typeface="Calibri"/>
                <a:cs typeface="Calibri"/>
                <a:sym typeface="Calibri"/>
              </a:defRPr>
            </a:lvl7pPr>
            <a:lvl8pPr indent="0" lvl="7" marL="0" marR="0" rtl="0" algn="r">
              <a:spcBef>
                <a:spcPts val="0"/>
              </a:spcBef>
              <a:buNone/>
              <a:defRPr b="0" i="0" sz="1200" u="none" cap="none" strike="noStrike">
                <a:solidFill>
                  <a:schemeClr val="lt1"/>
                </a:solidFill>
                <a:latin typeface="Calibri"/>
                <a:ea typeface="Calibri"/>
                <a:cs typeface="Calibri"/>
                <a:sym typeface="Calibri"/>
              </a:defRPr>
            </a:lvl8pPr>
            <a:lvl9pPr indent="0" lvl="8" marL="0" marR="0" rtl="0" algn="r">
              <a:spcBef>
                <a:spcPts val="0"/>
              </a:spcBef>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sp>
        <p:nvSpPr>
          <p:cNvPr id="28" name="Google Shape;2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jp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5" name="Shape 105"/>
        <p:cNvGrpSpPr/>
        <p:nvPr/>
      </p:nvGrpSpPr>
      <p:grpSpPr>
        <a:xfrm>
          <a:off x="0" y="0"/>
          <a:ext cx="0" cy="0"/>
          <a:chOff x="0" y="0"/>
          <a:chExt cx="0" cy="0"/>
        </a:xfrm>
      </p:grpSpPr>
      <p:sp>
        <p:nvSpPr>
          <p:cNvPr id="106" name="Google Shape;106;p1"/>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Vilde Rolf bestak politiet: Vanvidskørsel" id="107" name="Google Shape;107;p1"/>
          <p:cNvPicPr preferRelativeResize="0"/>
          <p:nvPr/>
        </p:nvPicPr>
        <p:blipFill rotWithShape="1">
          <a:blip r:embed="rId3">
            <a:alphaModFix/>
          </a:blip>
          <a:srcRect b="0" l="0" r="21315" t="0"/>
          <a:stretch/>
        </p:blipFill>
        <p:spPr>
          <a:xfrm>
            <a:off x="3523488" y="10"/>
            <a:ext cx="8668512" cy="6857990"/>
          </a:xfrm>
          <a:prstGeom prst="rect">
            <a:avLst/>
          </a:prstGeom>
          <a:noFill/>
          <a:ln>
            <a:noFill/>
          </a:ln>
        </p:spPr>
      </p:pic>
      <p:sp>
        <p:nvSpPr>
          <p:cNvPr id="108" name="Google Shape;108;p1"/>
          <p:cNvSpPr/>
          <p:nvPr/>
        </p:nvSpPr>
        <p:spPr>
          <a:xfrm>
            <a:off x="3" y="0"/>
            <a:ext cx="9339206" cy="6858000"/>
          </a:xfrm>
          <a:prstGeom prst="rect">
            <a:avLst/>
          </a:prstGeom>
          <a:gradFill>
            <a:gsLst>
              <a:gs pos="0">
                <a:srgbClr val="000000">
                  <a:alpha val="0"/>
                </a:srgbClr>
              </a:gs>
              <a:gs pos="33000">
                <a:srgbClr val="000000">
                  <a:alpha val="63921"/>
                </a:srgbClr>
              </a:gs>
              <a:gs pos="58000">
                <a:schemeClr val="dk1"/>
              </a:gs>
              <a:gs pos="100000">
                <a:schemeClr val="dk1"/>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1"/>
          <p:cNvSpPr txBox="1"/>
          <p:nvPr>
            <p:ph type="ctrTitle"/>
          </p:nvPr>
        </p:nvSpPr>
        <p:spPr>
          <a:xfrm>
            <a:off x="477981" y="1122363"/>
            <a:ext cx="4023360" cy="320413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Calibri"/>
              <a:buNone/>
            </a:pPr>
            <a:r>
              <a:rPr lang="en-US" sz="4800"/>
              <a:t>Le </a:t>
            </a:r>
            <a:r>
              <a:rPr lang="en-US" sz="4800"/>
              <a:t>TUR (DE FRANCE) 2020</a:t>
            </a:r>
            <a:endParaRPr sz="4800"/>
          </a:p>
        </p:txBody>
      </p:sp>
      <p:sp>
        <p:nvSpPr>
          <p:cNvPr id="110" name="Google Shape;110;p1"/>
          <p:cNvSpPr/>
          <p:nvPr/>
        </p:nvSpPr>
        <p:spPr>
          <a:xfrm rot="5400000">
            <a:off x="759921"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11" name="Google Shape;111;p1"/>
          <p:cNvSpPr/>
          <p:nvPr/>
        </p:nvSpPr>
        <p:spPr>
          <a:xfrm>
            <a:off x="481029" y="4546920"/>
            <a:ext cx="3977640" cy="1828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 name="Shape 115"/>
        <p:cNvGrpSpPr/>
        <p:nvPr/>
      </p:nvGrpSpPr>
      <p:grpSpPr>
        <a:xfrm>
          <a:off x="0" y="0"/>
          <a:ext cx="0" cy="0"/>
          <a:chOff x="0" y="0"/>
          <a:chExt cx="0" cy="0"/>
        </a:xfrm>
      </p:grpSpPr>
      <p:sp>
        <p:nvSpPr>
          <p:cNvPr id="116" name="Google Shape;116;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Tour de France: Winners jerseys and prize money explained | Road Bike News,  Reviews, and Photos" id="117" name="Google Shape;117;p2"/>
          <p:cNvPicPr preferRelativeResize="0"/>
          <p:nvPr/>
        </p:nvPicPr>
        <p:blipFill rotWithShape="1">
          <a:blip r:embed="rId3">
            <a:alphaModFix/>
          </a:blip>
          <a:srcRect b="-1" l="23914" r="724" t="0"/>
          <a:stretch/>
        </p:blipFill>
        <p:spPr>
          <a:xfrm>
            <a:off x="2871599" y="0"/>
            <a:ext cx="8949307" cy="6857990"/>
          </a:xfrm>
          <a:custGeom>
            <a:rect b="b" l="l" r="r" t="t"/>
            <a:pathLst>
              <a:path extrusionOk="0" h="6858000" w="8949307">
                <a:moveTo>
                  <a:pt x="0" y="0"/>
                </a:moveTo>
                <a:lnTo>
                  <a:pt x="8949307" y="0"/>
                </a:lnTo>
                <a:lnTo>
                  <a:pt x="8949307" y="6858000"/>
                </a:lnTo>
                <a:lnTo>
                  <a:pt x="0" y="6858000"/>
                </a:lnTo>
                <a:lnTo>
                  <a:pt x="62983" y="6788730"/>
                </a:lnTo>
                <a:cubicBezTo>
                  <a:pt x="773509" y="5928900"/>
                  <a:pt x="1212979" y="4741056"/>
                  <a:pt x="1212979" y="3429000"/>
                </a:cubicBezTo>
                <a:cubicBezTo>
                  <a:pt x="1212979" y="2116944"/>
                  <a:pt x="773509" y="929100"/>
                  <a:pt x="62983" y="69271"/>
                </a:cubicBezTo>
                <a:close/>
              </a:path>
            </a:pathLst>
          </a:custGeom>
          <a:noFill/>
          <a:ln>
            <a:noFill/>
          </a:ln>
        </p:spPr>
      </p:pic>
      <p:sp>
        <p:nvSpPr>
          <p:cNvPr id="118" name="Google Shape;118;p2"/>
          <p:cNvSpPr/>
          <p:nvPr/>
        </p:nvSpPr>
        <p:spPr>
          <a:xfrm>
            <a:off x="-1" y="0"/>
            <a:ext cx="4455673" cy="6858000"/>
          </a:xfrm>
          <a:custGeom>
            <a:rect b="b" l="l" r="r" t="t"/>
            <a:pathLst>
              <a:path extrusionOk="0" h="6858000" w="4455673">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solidFill>
            <a:schemeClr val="lt1"/>
          </a:solidFill>
          <a:ln cap="flat" cmpd="sng" w="9525">
            <a:solidFill>
              <a:srgbClr val="D5D5D5"/>
            </a:solidFill>
            <a:prstDash val="solid"/>
            <a:miter lim="800000"/>
            <a:headEnd len="sm" w="sm" type="none"/>
            <a:tailEnd len="sm" w="sm" type="none"/>
          </a:ln>
          <a:effectLst>
            <a:outerShdw blurRad="50800" rotWithShape="0" algn="l" dist="38100">
              <a:srgbClr val="D8D8D8">
                <a:alpha val="2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9" name="Google Shape;119;p2"/>
          <p:cNvSpPr/>
          <p:nvPr/>
        </p:nvSpPr>
        <p:spPr>
          <a:xfrm>
            <a:off x="0" y="0"/>
            <a:ext cx="4446529" cy="6858000"/>
          </a:xfrm>
          <a:custGeom>
            <a:rect b="b" l="l" r="r" t="t"/>
            <a:pathLst>
              <a:path extrusionOk="0" h="6858000" w="4446529">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0" name="Google Shape;120;p2"/>
          <p:cNvSpPr txBox="1"/>
          <p:nvPr>
            <p:ph type="title"/>
          </p:nvPr>
        </p:nvSpPr>
        <p:spPr>
          <a:xfrm>
            <a:off x="371094" y="1161288"/>
            <a:ext cx="3438144" cy="112572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3600"/>
              <a:t>Kort om reglerne</a:t>
            </a:r>
            <a:endParaRPr b="1" sz="3600"/>
          </a:p>
        </p:txBody>
      </p:sp>
      <p:sp>
        <p:nvSpPr>
          <p:cNvPr id="121" name="Google Shape;121;p2"/>
          <p:cNvSpPr/>
          <p:nvPr/>
        </p:nvSpPr>
        <p:spPr>
          <a:xfrm rot="5400000">
            <a:off x="662559" y="605790"/>
            <a:ext cx="73152" cy="548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22" name="Google Shape;122;p2"/>
          <p:cNvSpPr/>
          <p:nvPr/>
        </p:nvSpPr>
        <p:spPr>
          <a:xfrm>
            <a:off x="428244" y="2443480"/>
            <a:ext cx="333756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23" name="Google Shape;123;p2"/>
          <p:cNvSpPr txBox="1"/>
          <p:nvPr>
            <p:ph idx="1" type="body"/>
          </p:nvPr>
        </p:nvSpPr>
        <p:spPr>
          <a:xfrm>
            <a:off x="371094" y="2718054"/>
            <a:ext cx="3438906" cy="320725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Under touren kan man indsamle point til point-konkurrencen, bjerg-konkurrencen og den gule trøje! </a:t>
            </a:r>
            <a:endParaRPr/>
          </a:p>
          <a:p>
            <a:pPr indent="-228600" lvl="0" marL="228600" rtl="0" algn="l">
              <a:lnSpc>
                <a:spcPct val="90000"/>
              </a:lnSpc>
              <a:spcBef>
                <a:spcPts val="1000"/>
              </a:spcBef>
              <a:spcAft>
                <a:spcPts val="0"/>
              </a:spcAft>
              <a:buClr>
                <a:schemeClr val="dk1"/>
              </a:buClr>
              <a:buSzPts val="2400"/>
              <a:buChar char="•"/>
            </a:pPr>
            <a:r>
              <a:rPr lang="en-US" sz="2400"/>
              <a:t>Disse regler vil blive fortalt inden start for hver etape, da det er forskelligt.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pic>
        <p:nvPicPr>
          <p:cNvPr id="128" name="Google Shape;128;p3"/>
          <p:cNvPicPr preferRelativeResize="0"/>
          <p:nvPr>
            <p:ph idx="1" type="body"/>
          </p:nvPr>
        </p:nvPicPr>
        <p:blipFill rotWithShape="1">
          <a:blip r:embed="rId3">
            <a:alphaModFix/>
          </a:blip>
          <a:srcRect b="0" l="0" r="0" t="14772"/>
          <a:stretch/>
        </p:blipFill>
        <p:spPr>
          <a:xfrm>
            <a:off x="20" y="10"/>
            <a:ext cx="12191980" cy="6857990"/>
          </a:xfrm>
          <a:prstGeom prst="rect">
            <a:avLst/>
          </a:prstGeom>
          <a:noFill/>
          <a:ln>
            <a:noFill/>
          </a:ln>
        </p:spPr>
      </p:pic>
      <p:sp>
        <p:nvSpPr>
          <p:cNvPr id="129" name="Google Shape;129;p3"/>
          <p:cNvSpPr/>
          <p:nvPr/>
        </p:nvSpPr>
        <p:spPr>
          <a:xfrm>
            <a:off x="0" y="5320142"/>
            <a:ext cx="12192000" cy="736551"/>
          </a:xfrm>
          <a:prstGeom prst="rect">
            <a:avLst/>
          </a:prstGeom>
          <a:solidFill>
            <a:schemeClr val="lt1">
              <a:alpha val="9294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0" name="Google Shape;130;p3"/>
          <p:cNvSpPr txBox="1"/>
          <p:nvPr>
            <p:ph type="title"/>
          </p:nvPr>
        </p:nvSpPr>
        <p:spPr>
          <a:xfrm>
            <a:off x="523875" y="5317240"/>
            <a:ext cx="11210925" cy="7448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62626"/>
              </a:buClr>
              <a:buSzPts val="3600"/>
              <a:buFont typeface="Calibri"/>
              <a:buNone/>
            </a:pPr>
            <a:r>
              <a:rPr lang="en-US" sz="3600">
                <a:solidFill>
                  <a:srgbClr val="262626"/>
                </a:solidFill>
              </a:rPr>
              <a:t>Præsentation af dette års ryttere!</a:t>
            </a:r>
            <a:endParaRPr/>
          </a:p>
        </p:txBody>
      </p:sp>
      <p:cxnSp>
        <p:nvCxnSpPr>
          <p:cNvPr id="131" name="Google Shape;131;p3"/>
          <p:cNvCxnSpPr/>
          <p:nvPr/>
        </p:nvCxnSpPr>
        <p:spPr>
          <a:xfrm>
            <a:off x="0" y="5241983"/>
            <a:ext cx="12192000" cy="0"/>
          </a:xfrm>
          <a:prstGeom prst="straightConnector1">
            <a:avLst/>
          </a:prstGeom>
          <a:noFill/>
          <a:ln cap="flat" cmpd="sng" w="41275">
            <a:solidFill>
              <a:schemeClr val="lt1">
                <a:alpha val="89803"/>
              </a:schemeClr>
            </a:solidFill>
            <a:prstDash val="solid"/>
            <a:miter lim="800000"/>
            <a:headEnd len="sm" w="sm" type="none"/>
            <a:tailEnd len="sm" w="sm" type="none"/>
          </a:ln>
        </p:spPr>
      </p:cxnSp>
      <p:cxnSp>
        <p:nvCxnSpPr>
          <p:cNvPr id="132" name="Google Shape;132;p3"/>
          <p:cNvCxnSpPr/>
          <p:nvPr/>
        </p:nvCxnSpPr>
        <p:spPr>
          <a:xfrm>
            <a:off x="0" y="6134852"/>
            <a:ext cx="12192000" cy="0"/>
          </a:xfrm>
          <a:prstGeom prst="straightConnector1">
            <a:avLst/>
          </a:prstGeom>
          <a:noFill/>
          <a:ln cap="flat" cmpd="sng" w="41275">
            <a:solidFill>
              <a:schemeClr val="lt1">
                <a:alpha val="89803"/>
              </a:schemeClr>
            </a:solidFill>
            <a:prstDash val="solid"/>
            <a:miter lim="800000"/>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4"/>
          <p:cNvSpPr txBox="1"/>
          <p:nvPr>
            <p:ph type="title"/>
          </p:nvPr>
        </p:nvSpPr>
        <p:spPr>
          <a:xfrm>
            <a:off x="4965430" y="629268"/>
            <a:ext cx="6586491" cy="128616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100"/>
              <a:buFont typeface="Calibri"/>
              <a:buNone/>
            </a:pPr>
            <a:r>
              <a:rPr lang="en-US" sz="4100"/>
              <a:t>Dener</a:t>
            </a:r>
            <a:r>
              <a:rPr lang="en-US" sz="4100"/>
              <a:t> – </a:t>
            </a:r>
            <a:r>
              <a:rPr lang="en-US" sz="4100"/>
              <a:t>Dromedaren</a:t>
            </a:r>
            <a:r>
              <a:rPr lang="en-US" sz="4100"/>
              <a:t> fra Greve</a:t>
            </a:r>
            <a:endParaRPr sz="4100"/>
          </a:p>
        </p:txBody>
      </p:sp>
      <p:sp>
        <p:nvSpPr>
          <p:cNvPr id="138" name="Google Shape;138;p4"/>
          <p:cNvSpPr txBox="1"/>
          <p:nvPr>
            <p:ph idx="1" type="body"/>
          </p:nvPr>
        </p:nvSpPr>
        <p:spPr>
          <a:xfrm>
            <a:off x="4965431" y="2438400"/>
            <a:ext cx="6586500" cy="378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Dener er en sand fighter, hvis han har fået lidt indenbords. Giver sig aldrig i diskussioner. Og derfor giver han sig heller ikke på de mange højdemeter. Slank og godt velsmurt triller han op ad bjergene gennem Frankrig.</a:t>
            </a:r>
            <a:endParaRPr/>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rPr b="1" lang="en-US" sz="2000"/>
              <a:t>Egenskaber: </a:t>
            </a:r>
            <a:endParaRPr/>
          </a:p>
          <a:p>
            <a:pPr indent="-228600" lvl="0" marL="228600" rtl="0" algn="l">
              <a:lnSpc>
                <a:spcPct val="90000"/>
              </a:lnSpc>
              <a:spcBef>
                <a:spcPts val="1000"/>
              </a:spcBef>
              <a:spcAft>
                <a:spcPts val="0"/>
              </a:spcAft>
              <a:buClr>
                <a:schemeClr val="dk1"/>
              </a:buClr>
              <a:buSzPts val="2000"/>
              <a:buFont typeface="Calibri"/>
              <a:buChar char="-"/>
            </a:pPr>
            <a:r>
              <a:rPr lang="en-US" sz="2000"/>
              <a:t>Ihærdig</a:t>
            </a:r>
            <a:endParaRPr sz="2000"/>
          </a:p>
          <a:p>
            <a:pPr indent="-228600" lvl="0" marL="228600" rtl="0" algn="l">
              <a:lnSpc>
                <a:spcPct val="90000"/>
              </a:lnSpc>
              <a:spcBef>
                <a:spcPts val="1000"/>
              </a:spcBef>
              <a:spcAft>
                <a:spcPts val="0"/>
              </a:spcAft>
              <a:buSzPts val="2000"/>
              <a:buChar char="-"/>
            </a:pPr>
            <a:r>
              <a:rPr lang="en-US" sz="2000"/>
              <a:t>Stædig</a:t>
            </a:r>
            <a:endParaRPr sz="2000"/>
          </a:p>
          <a:p>
            <a:pPr indent="-228600" lvl="0" marL="228600" rtl="0" algn="l">
              <a:lnSpc>
                <a:spcPct val="90000"/>
              </a:lnSpc>
              <a:spcBef>
                <a:spcPts val="1000"/>
              </a:spcBef>
              <a:spcAft>
                <a:spcPts val="0"/>
              </a:spcAft>
              <a:buSzPts val="2000"/>
              <a:buChar char="-"/>
            </a:pPr>
            <a:r>
              <a:rPr lang="en-US" sz="2000"/>
              <a:t>Bjergrytter</a:t>
            </a:r>
            <a:endParaRPr sz="2000"/>
          </a:p>
        </p:txBody>
      </p:sp>
      <p:cxnSp>
        <p:nvCxnSpPr>
          <p:cNvPr id="139" name="Google Shape;139;p4"/>
          <p:cNvCxnSpPr/>
          <p:nvPr/>
        </p:nvCxnSpPr>
        <p:spPr>
          <a:xfrm>
            <a:off x="5080934" y="2115117"/>
            <a:ext cx="6309360" cy="0"/>
          </a:xfrm>
          <a:prstGeom prst="straightConnector1">
            <a:avLst/>
          </a:prstGeom>
          <a:noFill/>
          <a:ln cap="flat" cmpd="sng" w="19050">
            <a:solidFill>
              <a:srgbClr val="D1D752"/>
            </a:solidFill>
            <a:prstDash val="solid"/>
            <a:miter lim="800000"/>
            <a:headEnd len="sm" w="sm" type="none"/>
            <a:tailEnd len="sm" w="sm" type="none"/>
          </a:ln>
        </p:spPr>
      </p:cxnSp>
      <p:pic>
        <p:nvPicPr>
          <p:cNvPr id="140" name="Google Shape;140;p4"/>
          <p:cNvPicPr preferRelativeResize="0"/>
          <p:nvPr/>
        </p:nvPicPr>
        <p:blipFill rotWithShape="1">
          <a:blip r:embed="rId3">
            <a:alphaModFix/>
          </a:blip>
          <a:srcRect b="365" l="5455" r="0" t="722"/>
          <a:stretch/>
        </p:blipFill>
        <p:spPr>
          <a:xfrm>
            <a:off x="0" y="0"/>
            <a:ext cx="4901150" cy="68579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p5"/>
          <p:cNvSpPr txBox="1"/>
          <p:nvPr>
            <p:ph type="title"/>
          </p:nvPr>
        </p:nvSpPr>
        <p:spPr>
          <a:xfrm>
            <a:off x="4965430" y="629268"/>
            <a:ext cx="6586491" cy="128616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100"/>
              <a:buFont typeface="Calibri"/>
              <a:buNone/>
            </a:pPr>
            <a:r>
              <a:rPr lang="en-US" sz="4100"/>
              <a:t>Anders Björk</a:t>
            </a:r>
            <a:r>
              <a:rPr lang="en-US" sz="4100"/>
              <a:t> – Bøflen fra Greve (Bornholm)</a:t>
            </a:r>
            <a:endParaRPr sz="4100"/>
          </a:p>
        </p:txBody>
      </p:sp>
      <p:sp>
        <p:nvSpPr>
          <p:cNvPr id="146" name="Google Shape;146;p5"/>
          <p:cNvSpPr txBox="1"/>
          <p:nvPr>
            <p:ph idx="1" type="body"/>
          </p:nvPr>
        </p:nvSpPr>
        <p:spPr>
          <a:xfrm>
            <a:off x="4965431" y="2438400"/>
            <a:ext cx="6586489" cy="378541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Anders mener selv, at han kommer fra Greve. Andre vil mene, at han har søgt asyl fra Bornholm. Ikke desto mindre, så oser han af kræft og power. Ja et powerhouse fra Hammershus.</a:t>
            </a:r>
            <a:endParaRPr/>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rPr b="1" lang="en-US" sz="2000"/>
              <a:t>Egenskaber: </a:t>
            </a:r>
            <a:endParaRPr/>
          </a:p>
          <a:p>
            <a:pPr indent="-228600" lvl="0" marL="228600" rtl="0" algn="l">
              <a:lnSpc>
                <a:spcPct val="90000"/>
              </a:lnSpc>
              <a:spcBef>
                <a:spcPts val="1000"/>
              </a:spcBef>
              <a:spcAft>
                <a:spcPts val="0"/>
              </a:spcAft>
              <a:buClr>
                <a:schemeClr val="dk1"/>
              </a:buClr>
              <a:buSzPts val="2000"/>
              <a:buFont typeface="Calibri"/>
              <a:buChar char="-"/>
            </a:pPr>
            <a:r>
              <a:rPr lang="en-US" sz="2000"/>
              <a:t>Sidevind</a:t>
            </a:r>
            <a:endParaRPr sz="2000"/>
          </a:p>
          <a:p>
            <a:pPr indent="-228600" lvl="0" marL="228600" rtl="0" algn="l">
              <a:lnSpc>
                <a:spcPct val="90000"/>
              </a:lnSpc>
              <a:spcBef>
                <a:spcPts val="1000"/>
              </a:spcBef>
              <a:spcAft>
                <a:spcPts val="0"/>
              </a:spcAft>
              <a:buClr>
                <a:schemeClr val="dk1"/>
              </a:buClr>
              <a:buSzPts val="2000"/>
              <a:buFont typeface="Calibri"/>
              <a:buChar char="-"/>
            </a:pPr>
            <a:r>
              <a:rPr lang="en-US" sz="2000"/>
              <a:t>Enkelstartsrytter</a:t>
            </a:r>
            <a:endParaRPr sz="2000"/>
          </a:p>
          <a:p>
            <a:pPr indent="-228600" lvl="0" marL="228600" rtl="0" algn="l">
              <a:lnSpc>
                <a:spcPct val="90000"/>
              </a:lnSpc>
              <a:spcBef>
                <a:spcPts val="1000"/>
              </a:spcBef>
              <a:spcAft>
                <a:spcPts val="0"/>
              </a:spcAft>
              <a:buSzPts val="2000"/>
              <a:buChar char="-"/>
            </a:pPr>
            <a:r>
              <a:rPr lang="en-US" sz="2000"/>
              <a:t>Klassikere</a:t>
            </a:r>
            <a:endParaRPr sz="2000"/>
          </a:p>
        </p:txBody>
      </p:sp>
      <p:cxnSp>
        <p:nvCxnSpPr>
          <p:cNvPr id="147" name="Google Shape;147;p5"/>
          <p:cNvCxnSpPr/>
          <p:nvPr/>
        </p:nvCxnSpPr>
        <p:spPr>
          <a:xfrm>
            <a:off x="5080934" y="2115117"/>
            <a:ext cx="6309360" cy="0"/>
          </a:xfrm>
          <a:prstGeom prst="straightConnector1">
            <a:avLst/>
          </a:prstGeom>
          <a:noFill/>
          <a:ln cap="flat" cmpd="sng" w="19050">
            <a:solidFill>
              <a:srgbClr val="99723D"/>
            </a:solidFill>
            <a:prstDash val="solid"/>
            <a:miter lim="800000"/>
            <a:headEnd len="sm" w="sm" type="none"/>
            <a:tailEnd len="sm" w="sm" type="none"/>
          </a:ln>
        </p:spPr>
      </p:cxnSp>
      <p:pic>
        <p:nvPicPr>
          <p:cNvPr id="148" name="Google Shape;148;p5"/>
          <p:cNvPicPr preferRelativeResize="0"/>
          <p:nvPr/>
        </p:nvPicPr>
        <p:blipFill rotWithShape="1">
          <a:blip r:embed="rId3">
            <a:alphaModFix/>
          </a:blip>
          <a:srcRect b="24642" l="0" r="0" t="6544"/>
          <a:stretch/>
        </p:blipFill>
        <p:spPr>
          <a:xfrm>
            <a:off x="0" y="0"/>
            <a:ext cx="4709750" cy="68579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 name="Shape 152"/>
        <p:cNvGrpSpPr/>
        <p:nvPr/>
      </p:nvGrpSpPr>
      <p:grpSpPr>
        <a:xfrm>
          <a:off x="0" y="0"/>
          <a:ext cx="0" cy="0"/>
          <a:chOff x="0" y="0"/>
          <a:chExt cx="0" cy="0"/>
        </a:xfrm>
      </p:grpSpPr>
      <p:sp>
        <p:nvSpPr>
          <p:cNvPr id="153" name="Google Shape;153;p6"/>
          <p:cNvSpPr txBox="1"/>
          <p:nvPr>
            <p:ph type="title"/>
          </p:nvPr>
        </p:nvSpPr>
        <p:spPr>
          <a:xfrm>
            <a:off x="4965430" y="629268"/>
            <a:ext cx="6586500" cy="12861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100"/>
              <a:buFont typeface="Calibri"/>
              <a:buNone/>
            </a:pPr>
            <a:r>
              <a:rPr lang="en-US" sz="4100"/>
              <a:t>Oliver Udo</a:t>
            </a:r>
            <a:r>
              <a:rPr lang="en-US" sz="4100"/>
              <a:t> – Uglen fra Nigeria (Karlslunde)</a:t>
            </a:r>
            <a:endParaRPr sz="4100"/>
          </a:p>
        </p:txBody>
      </p:sp>
      <p:sp>
        <p:nvSpPr>
          <p:cNvPr id="154" name="Google Shape;154;p6"/>
          <p:cNvSpPr txBox="1"/>
          <p:nvPr>
            <p:ph idx="1" type="body"/>
          </p:nvPr>
        </p:nvSpPr>
        <p:spPr>
          <a:xfrm>
            <a:off x="4965431" y="2438400"/>
            <a:ext cx="6586500" cy="3785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000"/>
              <a:buNone/>
            </a:pPr>
            <a:r>
              <a:rPr lang="en-US" sz="2000"/>
              <a:t>Ligesom Björk, så har man ofte diskussioner med Udo om hans ophav, men lad det ligge. Uglen har mange </a:t>
            </a:r>
            <a:r>
              <a:rPr lang="en-US" sz="2000"/>
              <a:t>facetter</a:t>
            </a:r>
            <a:r>
              <a:rPr lang="en-US" sz="2000"/>
              <a:t>. Han har en evne til altid at være den bedste til spil. Det kræver udholdenhed og snilde. Og det viser han så sandelig på etaperne</a:t>
            </a:r>
            <a:endParaRPr/>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rPr b="1" lang="en-US" sz="2000"/>
              <a:t>Egenskaber:</a:t>
            </a:r>
            <a:endParaRPr/>
          </a:p>
          <a:p>
            <a:pPr indent="-228600" lvl="0" marL="228600" rtl="0" algn="l">
              <a:lnSpc>
                <a:spcPct val="90000"/>
              </a:lnSpc>
              <a:spcBef>
                <a:spcPts val="1000"/>
              </a:spcBef>
              <a:spcAft>
                <a:spcPts val="0"/>
              </a:spcAft>
              <a:buClr>
                <a:schemeClr val="dk1"/>
              </a:buClr>
              <a:buSzPts val="2000"/>
              <a:buFont typeface="Calibri"/>
              <a:buChar char="-"/>
            </a:pPr>
            <a:r>
              <a:rPr lang="en-US" sz="2000"/>
              <a:t>Utrættelig</a:t>
            </a:r>
            <a:endParaRPr sz="2000"/>
          </a:p>
          <a:p>
            <a:pPr indent="-228600" lvl="0" marL="228600" rtl="0" algn="l">
              <a:lnSpc>
                <a:spcPct val="90000"/>
              </a:lnSpc>
              <a:spcBef>
                <a:spcPts val="1000"/>
              </a:spcBef>
              <a:spcAft>
                <a:spcPts val="0"/>
              </a:spcAft>
              <a:buClr>
                <a:schemeClr val="dk1"/>
              </a:buClr>
              <a:buSzPts val="2000"/>
              <a:buFont typeface="Calibri"/>
              <a:buChar char="-"/>
            </a:pPr>
            <a:r>
              <a:rPr lang="en-US" sz="2000"/>
              <a:t>Snu</a:t>
            </a:r>
            <a:endParaRPr/>
          </a:p>
          <a:p>
            <a:pPr indent="-228600" lvl="0" marL="228600" rtl="0" algn="l">
              <a:lnSpc>
                <a:spcPct val="90000"/>
              </a:lnSpc>
              <a:spcBef>
                <a:spcPts val="1000"/>
              </a:spcBef>
              <a:spcAft>
                <a:spcPts val="0"/>
              </a:spcAft>
              <a:buClr>
                <a:schemeClr val="dk1"/>
              </a:buClr>
              <a:buSzPts val="2000"/>
              <a:buFont typeface="Calibri"/>
              <a:buChar char="-"/>
            </a:pPr>
            <a:r>
              <a:rPr lang="en-US" sz="2000"/>
              <a:t>Flade etaper</a:t>
            </a:r>
            <a:endParaRPr sz="2000"/>
          </a:p>
        </p:txBody>
      </p:sp>
      <p:cxnSp>
        <p:nvCxnSpPr>
          <p:cNvPr id="155" name="Google Shape;155;p6"/>
          <p:cNvCxnSpPr/>
          <p:nvPr/>
        </p:nvCxnSpPr>
        <p:spPr>
          <a:xfrm>
            <a:off x="5080934" y="2115117"/>
            <a:ext cx="6309300" cy="0"/>
          </a:xfrm>
          <a:prstGeom prst="straightConnector1">
            <a:avLst/>
          </a:prstGeom>
          <a:noFill/>
          <a:ln cap="flat" cmpd="sng" w="19050">
            <a:solidFill>
              <a:srgbClr val="A75540"/>
            </a:solidFill>
            <a:prstDash val="solid"/>
            <a:miter lim="800000"/>
            <a:headEnd len="sm" w="sm" type="none"/>
            <a:tailEnd len="sm" w="sm" type="none"/>
          </a:ln>
        </p:spPr>
      </p:cxnSp>
      <p:pic>
        <p:nvPicPr>
          <p:cNvPr id="156" name="Google Shape;156;p6"/>
          <p:cNvPicPr preferRelativeResize="0"/>
          <p:nvPr/>
        </p:nvPicPr>
        <p:blipFill rotWithShape="1">
          <a:blip r:embed="rId3">
            <a:alphaModFix/>
          </a:blip>
          <a:srcRect b="6942" l="0" r="0" t="2428"/>
          <a:stretch/>
        </p:blipFill>
        <p:spPr>
          <a:xfrm>
            <a:off x="0" y="0"/>
            <a:ext cx="3575600" cy="68579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sp>
        <p:nvSpPr>
          <p:cNvPr id="161" name="Google Shape;161;p7"/>
          <p:cNvSpPr txBox="1"/>
          <p:nvPr>
            <p:ph type="title"/>
          </p:nvPr>
        </p:nvSpPr>
        <p:spPr>
          <a:xfrm>
            <a:off x="4965430" y="629268"/>
            <a:ext cx="6586491" cy="128616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100"/>
              <a:buFont typeface="Calibri"/>
              <a:buNone/>
            </a:pPr>
            <a:r>
              <a:rPr lang="en-US" sz="4100"/>
              <a:t>Anders Lund</a:t>
            </a:r>
            <a:r>
              <a:rPr lang="en-US" sz="4100"/>
              <a:t> – Lunden fra Greve</a:t>
            </a:r>
            <a:endParaRPr sz="4100"/>
          </a:p>
        </p:txBody>
      </p:sp>
      <p:sp>
        <p:nvSpPr>
          <p:cNvPr id="162" name="Google Shape;162;p7"/>
          <p:cNvSpPr txBox="1"/>
          <p:nvPr>
            <p:ph idx="1" type="body"/>
          </p:nvPr>
        </p:nvSpPr>
        <p:spPr>
          <a:xfrm>
            <a:off x="4965431" y="2438400"/>
            <a:ext cx="6586489" cy="378541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Som det kan ses på billedet, så begår Anders sig ofte i det hollandske. Og hvis man kigger nærmere, så kan man se brosten i baggrunden. Anders elsker brosten. Anders elsker klassikere og </a:t>
            </a:r>
            <a:r>
              <a:rPr lang="en-US" sz="2000"/>
              <a:t>Champs-Élysées</a:t>
            </a:r>
            <a:endParaRPr sz="2000"/>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rPr b="1" lang="en-US" sz="2000"/>
              <a:t>Egenskaber:</a:t>
            </a:r>
            <a:endParaRPr/>
          </a:p>
          <a:p>
            <a:pPr indent="-355600" lvl="0" marL="457200" rtl="0" algn="l">
              <a:lnSpc>
                <a:spcPct val="90000"/>
              </a:lnSpc>
              <a:spcBef>
                <a:spcPts val="1000"/>
              </a:spcBef>
              <a:spcAft>
                <a:spcPts val="0"/>
              </a:spcAft>
              <a:buSzPts val="2000"/>
              <a:buChar char="-"/>
            </a:pPr>
            <a:r>
              <a:rPr lang="en-US" sz="2000"/>
              <a:t>Angrebsivrig</a:t>
            </a:r>
            <a:endParaRPr sz="2000"/>
          </a:p>
          <a:p>
            <a:pPr indent="-355600" lvl="0" marL="457200" rtl="0" algn="l">
              <a:lnSpc>
                <a:spcPct val="90000"/>
              </a:lnSpc>
              <a:spcBef>
                <a:spcPts val="0"/>
              </a:spcBef>
              <a:spcAft>
                <a:spcPts val="0"/>
              </a:spcAft>
              <a:buSzPts val="2000"/>
              <a:buChar char="-"/>
            </a:pPr>
            <a:r>
              <a:rPr lang="en-US" sz="2000"/>
              <a:t>Sprinter</a:t>
            </a:r>
            <a:endParaRPr sz="2000"/>
          </a:p>
          <a:p>
            <a:pPr indent="-355600" lvl="0" marL="457200" rtl="0" algn="l">
              <a:lnSpc>
                <a:spcPct val="90000"/>
              </a:lnSpc>
              <a:spcBef>
                <a:spcPts val="0"/>
              </a:spcBef>
              <a:spcAft>
                <a:spcPts val="0"/>
              </a:spcAft>
              <a:buSzPts val="2000"/>
              <a:buChar char="-"/>
            </a:pPr>
            <a:r>
              <a:rPr lang="en-US" sz="2000"/>
              <a:t>Klassiker</a:t>
            </a:r>
            <a:endParaRPr sz="2000"/>
          </a:p>
        </p:txBody>
      </p:sp>
      <p:cxnSp>
        <p:nvCxnSpPr>
          <p:cNvPr id="163" name="Google Shape;163;p7"/>
          <p:cNvCxnSpPr/>
          <p:nvPr/>
        </p:nvCxnSpPr>
        <p:spPr>
          <a:xfrm>
            <a:off x="5080934" y="2115117"/>
            <a:ext cx="6309360" cy="0"/>
          </a:xfrm>
          <a:prstGeom prst="straightConnector1">
            <a:avLst/>
          </a:prstGeom>
          <a:noFill/>
          <a:ln cap="flat" cmpd="sng" w="19050">
            <a:solidFill>
              <a:srgbClr val="D95DC0"/>
            </a:solidFill>
            <a:prstDash val="solid"/>
            <a:miter lim="800000"/>
            <a:headEnd len="sm" w="sm" type="none"/>
            <a:tailEnd len="sm" w="sm" type="none"/>
          </a:ln>
        </p:spPr>
      </p:cxnSp>
      <p:pic>
        <p:nvPicPr>
          <p:cNvPr id="164" name="Google Shape;164;p7"/>
          <p:cNvPicPr preferRelativeResize="0"/>
          <p:nvPr/>
        </p:nvPicPr>
        <p:blipFill rotWithShape="1">
          <a:blip r:embed="rId3">
            <a:alphaModFix/>
          </a:blip>
          <a:srcRect b="14764" l="0" r="0" t="15723"/>
          <a:stretch/>
        </p:blipFill>
        <p:spPr>
          <a:xfrm>
            <a:off x="0" y="0"/>
            <a:ext cx="4670200" cy="68579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p8"/>
          <p:cNvSpPr txBox="1"/>
          <p:nvPr>
            <p:ph type="title"/>
          </p:nvPr>
        </p:nvSpPr>
        <p:spPr>
          <a:xfrm>
            <a:off x="4965430" y="629268"/>
            <a:ext cx="6586491" cy="128616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100"/>
              <a:buFont typeface="Calibri"/>
              <a:buNone/>
            </a:pPr>
            <a:r>
              <a:rPr lang="en-US" sz="3900"/>
              <a:t>Oliver Klint</a:t>
            </a:r>
            <a:r>
              <a:rPr lang="en-US" sz="3900"/>
              <a:t> – Gnuen fra Greve, Mosede og/eller Karlslunde. Who cares.</a:t>
            </a:r>
            <a:endParaRPr sz="3900"/>
          </a:p>
        </p:txBody>
      </p:sp>
      <p:sp>
        <p:nvSpPr>
          <p:cNvPr id="170" name="Google Shape;170;p8"/>
          <p:cNvSpPr txBox="1"/>
          <p:nvPr>
            <p:ph idx="1" type="body"/>
          </p:nvPr>
        </p:nvSpPr>
        <p:spPr>
          <a:xfrm>
            <a:off x="4965431" y="2438400"/>
            <a:ext cx="6586489" cy="378541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Oliver Klint. Husk navnet. Fordi han vil formentlig både stjæle en etape og din dame. En charmetrold og dansende med sin cykel vil han liste fra seng til seng og fra præmieoverrækkelse til præmieoverrækkelse.</a:t>
            </a:r>
            <a:endParaRPr/>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rPr b="1" lang="en-US" sz="2000"/>
              <a:t>Egenskaber:</a:t>
            </a:r>
            <a:endParaRPr/>
          </a:p>
          <a:p>
            <a:pPr indent="-228600" lvl="0" marL="228600" rtl="0" algn="l">
              <a:lnSpc>
                <a:spcPct val="90000"/>
              </a:lnSpc>
              <a:spcBef>
                <a:spcPts val="1000"/>
              </a:spcBef>
              <a:spcAft>
                <a:spcPts val="0"/>
              </a:spcAft>
              <a:buClr>
                <a:schemeClr val="dk1"/>
              </a:buClr>
              <a:buSzPts val="2000"/>
              <a:buFont typeface="Calibri"/>
              <a:buChar char="-"/>
            </a:pPr>
            <a:r>
              <a:rPr lang="en-US" sz="2000"/>
              <a:t>Etapeløb</a:t>
            </a:r>
            <a:endParaRPr/>
          </a:p>
          <a:p>
            <a:pPr indent="-228600" lvl="0" marL="228600" rtl="0" algn="l">
              <a:lnSpc>
                <a:spcPct val="90000"/>
              </a:lnSpc>
              <a:spcBef>
                <a:spcPts val="1000"/>
              </a:spcBef>
              <a:spcAft>
                <a:spcPts val="0"/>
              </a:spcAft>
              <a:buClr>
                <a:schemeClr val="dk1"/>
              </a:buClr>
              <a:buSzPts val="2000"/>
              <a:buFont typeface="Calibri"/>
              <a:buChar char="-"/>
            </a:pPr>
            <a:r>
              <a:rPr lang="en-US" sz="2000"/>
              <a:t>Taktisk</a:t>
            </a:r>
            <a:endParaRPr sz="2000"/>
          </a:p>
          <a:p>
            <a:pPr indent="-228600" lvl="0" marL="228600" rtl="0" algn="l">
              <a:lnSpc>
                <a:spcPct val="90000"/>
              </a:lnSpc>
              <a:spcBef>
                <a:spcPts val="1000"/>
              </a:spcBef>
              <a:spcAft>
                <a:spcPts val="0"/>
              </a:spcAft>
              <a:buSzPts val="2000"/>
              <a:buChar char="-"/>
            </a:pPr>
            <a:r>
              <a:rPr lang="en-US" sz="2000"/>
              <a:t>Manipulerende</a:t>
            </a:r>
            <a:endParaRPr sz="2000"/>
          </a:p>
          <a:p>
            <a:pPr indent="-101600" lvl="0" marL="228600" rtl="0" algn="l">
              <a:lnSpc>
                <a:spcPct val="90000"/>
              </a:lnSpc>
              <a:spcBef>
                <a:spcPts val="1000"/>
              </a:spcBef>
              <a:spcAft>
                <a:spcPts val="0"/>
              </a:spcAft>
              <a:buClr>
                <a:schemeClr val="dk1"/>
              </a:buClr>
              <a:buSzPts val="2000"/>
              <a:buFont typeface="Calibri"/>
              <a:buNone/>
            </a:pPr>
            <a:r>
              <a:t/>
            </a:r>
            <a:endParaRPr sz="2000"/>
          </a:p>
        </p:txBody>
      </p:sp>
      <p:cxnSp>
        <p:nvCxnSpPr>
          <p:cNvPr id="171" name="Google Shape;171;p8"/>
          <p:cNvCxnSpPr/>
          <p:nvPr/>
        </p:nvCxnSpPr>
        <p:spPr>
          <a:xfrm>
            <a:off x="5080934" y="2115117"/>
            <a:ext cx="6309360" cy="0"/>
          </a:xfrm>
          <a:prstGeom prst="straightConnector1">
            <a:avLst/>
          </a:prstGeom>
          <a:noFill/>
          <a:ln cap="flat" cmpd="sng" w="19050">
            <a:solidFill>
              <a:srgbClr val="9E0038"/>
            </a:solidFill>
            <a:prstDash val="solid"/>
            <a:miter lim="800000"/>
            <a:headEnd len="sm" w="sm" type="none"/>
            <a:tailEnd len="sm" w="sm" type="none"/>
          </a:ln>
        </p:spPr>
      </p:cxnSp>
      <p:pic>
        <p:nvPicPr>
          <p:cNvPr id="172" name="Google Shape;172;p8"/>
          <p:cNvPicPr preferRelativeResize="0"/>
          <p:nvPr/>
        </p:nvPicPr>
        <p:blipFill rotWithShape="1">
          <a:blip r:embed="rId3">
            <a:alphaModFix/>
          </a:blip>
          <a:srcRect b="4251" l="0" r="17837" t="0"/>
          <a:stretch/>
        </p:blipFill>
        <p:spPr>
          <a:xfrm>
            <a:off x="0" y="0"/>
            <a:ext cx="4416201" cy="68579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993406c738_0_0"/>
          <p:cNvSpPr txBox="1"/>
          <p:nvPr>
            <p:ph type="title"/>
          </p:nvPr>
        </p:nvSpPr>
        <p:spPr>
          <a:xfrm>
            <a:off x="4631525" y="365125"/>
            <a:ext cx="6722400" cy="1325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Anders Jansen - Solsorten fra Solrød</a:t>
            </a:r>
            <a:endParaRPr/>
          </a:p>
        </p:txBody>
      </p:sp>
      <p:sp>
        <p:nvSpPr>
          <p:cNvPr id="179" name="Google Shape;179;g993406c738_0_0"/>
          <p:cNvSpPr txBox="1"/>
          <p:nvPr>
            <p:ph idx="1" type="body"/>
          </p:nvPr>
        </p:nvSpPr>
        <p:spPr>
          <a:xfrm>
            <a:off x="4536275" y="1825625"/>
            <a:ext cx="68175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sz="2000"/>
              <a:t>Et uskrevet blad på den franske cykelscene. Men kan han skrive sig ind i historiebøgerne, som det nye stjerneskud i et felt af stjerner</a:t>
            </a:r>
            <a:endParaRPr sz="2000"/>
          </a:p>
          <a:p>
            <a:pPr indent="0" lvl="0" marL="0" rtl="0" algn="l">
              <a:spcBef>
                <a:spcPts val="1000"/>
              </a:spcBef>
              <a:spcAft>
                <a:spcPts val="0"/>
              </a:spcAft>
              <a:buNone/>
            </a:pPr>
            <a:r>
              <a:t/>
            </a:r>
            <a:endParaRPr sz="2000"/>
          </a:p>
          <a:p>
            <a:pPr indent="0" lvl="0" marL="0" rtl="0" algn="l">
              <a:spcBef>
                <a:spcPts val="1000"/>
              </a:spcBef>
              <a:spcAft>
                <a:spcPts val="0"/>
              </a:spcAft>
              <a:buNone/>
            </a:pPr>
            <a:r>
              <a:rPr b="1" lang="en-US" sz="2000"/>
              <a:t>Egenskaber:</a:t>
            </a:r>
            <a:endParaRPr b="1" sz="2000"/>
          </a:p>
          <a:p>
            <a:pPr indent="-355600" lvl="0" marL="457200" rtl="0" algn="l">
              <a:spcBef>
                <a:spcPts val="1000"/>
              </a:spcBef>
              <a:spcAft>
                <a:spcPts val="0"/>
              </a:spcAft>
              <a:buSzPts val="2000"/>
              <a:buChar char="-"/>
            </a:pPr>
            <a:r>
              <a:rPr lang="en-US" sz="2000"/>
              <a:t>?</a:t>
            </a:r>
            <a:endParaRPr sz="2000"/>
          </a:p>
        </p:txBody>
      </p:sp>
      <p:pic>
        <p:nvPicPr>
          <p:cNvPr id="180" name="Google Shape;180;g993406c738_0_0"/>
          <p:cNvPicPr preferRelativeResize="0"/>
          <p:nvPr/>
        </p:nvPicPr>
        <p:blipFill>
          <a:blip r:embed="rId3">
            <a:alphaModFix/>
          </a:blip>
          <a:stretch>
            <a:fillRect/>
          </a:stretch>
        </p:blipFill>
        <p:spPr>
          <a:xfrm>
            <a:off x="200025" y="1164450"/>
            <a:ext cx="4231474" cy="42314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sp>
        <p:nvSpPr>
          <p:cNvPr id="185" name="Google Shape;185;p9"/>
          <p:cNvSpPr txBox="1"/>
          <p:nvPr>
            <p:ph type="title"/>
          </p:nvPr>
        </p:nvSpPr>
        <p:spPr>
          <a:xfrm>
            <a:off x="4965430" y="629268"/>
            <a:ext cx="6586491" cy="128616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100"/>
              <a:buFont typeface="Calibri"/>
              <a:buNone/>
            </a:pPr>
            <a:r>
              <a:rPr lang="en-US" sz="4100"/>
              <a:t>Simon Mathias Hansen – Løbskommisær</a:t>
            </a:r>
            <a:endParaRPr sz="4100"/>
          </a:p>
        </p:txBody>
      </p:sp>
      <p:sp>
        <p:nvSpPr>
          <p:cNvPr id="186" name="Google Shape;186;p9"/>
          <p:cNvSpPr txBox="1"/>
          <p:nvPr>
            <p:ph idx="1" type="body"/>
          </p:nvPr>
        </p:nvSpPr>
        <p:spPr>
          <a:xfrm>
            <a:off x="4965431" y="2438400"/>
            <a:ext cx="6586489" cy="378541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Simon er fuldstændig overnaturlig person. Er han overhovedet et menneske, hvem ved? Men ihvertfald er han løbskommissær til dette års Le Tur 2020. </a:t>
            </a:r>
            <a:endParaRPr/>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rPr b="1" lang="en-US" sz="2000"/>
              <a:t>Egenskaber:</a:t>
            </a:r>
            <a:endParaRPr/>
          </a:p>
          <a:p>
            <a:pPr indent="0" lvl="0" marL="0" rtl="0" algn="l">
              <a:lnSpc>
                <a:spcPct val="90000"/>
              </a:lnSpc>
              <a:spcBef>
                <a:spcPts val="1000"/>
              </a:spcBef>
              <a:spcAft>
                <a:spcPts val="0"/>
              </a:spcAft>
              <a:buClr>
                <a:schemeClr val="dk1"/>
              </a:buClr>
              <a:buSzPts val="2000"/>
              <a:buNone/>
            </a:pPr>
            <a:r>
              <a:rPr lang="en-US" sz="2000"/>
              <a:t>- Kan alt</a:t>
            </a:r>
            <a:endParaRPr sz="2000"/>
          </a:p>
        </p:txBody>
      </p:sp>
      <p:pic>
        <p:nvPicPr>
          <p:cNvPr id="187" name="Google Shape;187;p9"/>
          <p:cNvPicPr preferRelativeResize="0"/>
          <p:nvPr/>
        </p:nvPicPr>
        <p:blipFill rotWithShape="1">
          <a:blip r:embed="rId3">
            <a:alphaModFix/>
          </a:blip>
          <a:srcRect b="-2" l="14556" r="20551" t="0"/>
          <a:stretch/>
        </p:blipFill>
        <p:spPr>
          <a:xfrm>
            <a:off x="20" y="10"/>
            <a:ext cx="4635571" cy="6857990"/>
          </a:xfrm>
          <a:prstGeom prst="rect">
            <a:avLst/>
          </a:prstGeom>
          <a:noFill/>
          <a:ln>
            <a:noFill/>
          </a:ln>
        </p:spPr>
      </p:pic>
      <p:cxnSp>
        <p:nvCxnSpPr>
          <p:cNvPr id="188" name="Google Shape;188;p9"/>
          <p:cNvCxnSpPr/>
          <p:nvPr/>
        </p:nvCxnSpPr>
        <p:spPr>
          <a:xfrm>
            <a:off x="5080934" y="2115117"/>
            <a:ext cx="6309360" cy="0"/>
          </a:xfrm>
          <a:prstGeom prst="straightConnector1">
            <a:avLst/>
          </a:prstGeom>
          <a:noFill/>
          <a:ln cap="flat" cmpd="sng" w="19050">
            <a:solidFill>
              <a:srgbClr val="BABE4E"/>
            </a:solidFill>
            <a:prstDash val="solid"/>
            <a:miter lim="800000"/>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92" name="Shape 192"/>
        <p:cNvGrpSpPr/>
        <p:nvPr/>
      </p:nvGrpSpPr>
      <p:grpSpPr>
        <a:xfrm>
          <a:off x="0" y="0"/>
          <a:ext cx="0" cy="0"/>
          <a:chOff x="0" y="0"/>
          <a:chExt cx="0" cy="0"/>
        </a:xfrm>
      </p:grpSpPr>
      <p:sp>
        <p:nvSpPr>
          <p:cNvPr id="193" name="Google Shape;193;p10"/>
          <p:cNvSpPr txBox="1"/>
          <p:nvPr/>
        </p:nvSpPr>
        <p:spPr>
          <a:xfrm>
            <a:off x="762001" y="803325"/>
            <a:ext cx="5314536"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i="0" lang="en-US" sz="4400" u="none" cap="none" strike="noStrike">
                <a:solidFill>
                  <a:schemeClr val="lt1"/>
                </a:solidFill>
                <a:latin typeface="Calibri"/>
                <a:ea typeface="Calibri"/>
                <a:cs typeface="Calibri"/>
                <a:sym typeface="Calibri"/>
              </a:rPr>
              <a:t>Etape 1 – Prolog</a:t>
            </a:r>
            <a:endParaRPr/>
          </a:p>
        </p:txBody>
      </p:sp>
      <p:sp>
        <p:nvSpPr>
          <p:cNvPr id="194" name="Google Shape;194;p10"/>
          <p:cNvSpPr txBox="1"/>
          <p:nvPr>
            <p:ph idx="1" type="body"/>
          </p:nvPr>
        </p:nvSpPr>
        <p:spPr>
          <a:xfrm>
            <a:off x="762000" y="2128888"/>
            <a:ext cx="5820780" cy="377154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000"/>
              <a:buNone/>
            </a:pPr>
            <a:r>
              <a:rPr lang="en-US" sz="2000"/>
              <a:t>Prologen er en god starter ved hvert etapeløb. De stærkeste og mest kraftfulde ryttere får vist benene frem og den stærkeste ender i førertrøjen. Ikke nok med førertrøjen, så får placeringerne også betydning i forhold til pointtrøjen. </a:t>
            </a:r>
            <a:endParaRPr/>
          </a:p>
          <a:p>
            <a:pPr indent="127000" lvl="0" marL="0" rtl="0" algn="l">
              <a:lnSpc>
                <a:spcPct val="90000"/>
              </a:lnSpc>
              <a:spcBef>
                <a:spcPts val="1000"/>
              </a:spcBef>
              <a:spcAft>
                <a:spcPts val="0"/>
              </a:spcAft>
              <a:buClr>
                <a:schemeClr val="lt1"/>
              </a:buClr>
              <a:buSzPts val="2000"/>
              <a:buNone/>
            </a:pPr>
            <a:r>
              <a:t/>
            </a:r>
            <a:endParaRPr sz="2000"/>
          </a:p>
          <a:p>
            <a:pPr indent="0" lvl="0" marL="0" rtl="0" algn="l">
              <a:lnSpc>
                <a:spcPct val="90000"/>
              </a:lnSpc>
              <a:spcBef>
                <a:spcPts val="1000"/>
              </a:spcBef>
              <a:spcAft>
                <a:spcPts val="0"/>
              </a:spcAft>
              <a:buClr>
                <a:schemeClr val="lt1"/>
              </a:buClr>
              <a:buSzPts val="2000"/>
              <a:buNone/>
            </a:pPr>
            <a:r>
              <a:rPr b="1" lang="en-US" sz="2000"/>
              <a:t>Ruten: </a:t>
            </a:r>
            <a:endParaRPr/>
          </a:p>
          <a:p>
            <a:pPr indent="-228600" lvl="0" marL="228600" rtl="0" algn="l">
              <a:lnSpc>
                <a:spcPct val="90000"/>
              </a:lnSpc>
              <a:spcBef>
                <a:spcPts val="1000"/>
              </a:spcBef>
              <a:spcAft>
                <a:spcPts val="0"/>
              </a:spcAft>
              <a:buClr>
                <a:schemeClr val="lt1"/>
              </a:buClr>
              <a:buSzPts val="2000"/>
              <a:buChar char="•"/>
            </a:pPr>
            <a:r>
              <a:rPr lang="en-US" sz="2000"/>
              <a:t>Hver rytter får en bajer efter eget valg og skal bunde den. Det bliver rytterens foreløbige tid.</a:t>
            </a:r>
            <a:endParaRPr/>
          </a:p>
          <a:p>
            <a:pPr indent="-228600" lvl="0" marL="228600" rtl="0" algn="l">
              <a:lnSpc>
                <a:spcPct val="90000"/>
              </a:lnSpc>
              <a:spcBef>
                <a:spcPts val="1000"/>
              </a:spcBef>
              <a:spcAft>
                <a:spcPts val="0"/>
              </a:spcAft>
              <a:buClr>
                <a:schemeClr val="lt1"/>
              </a:buClr>
              <a:buSzPts val="2000"/>
              <a:buChar char="•"/>
            </a:pPr>
            <a:r>
              <a:rPr lang="en-US" sz="2000"/>
              <a:t>Her vil også blive tildelt point til pointkonkurrencen for placering</a:t>
            </a:r>
            <a:endParaRPr sz="2000"/>
          </a:p>
          <a:p>
            <a:pPr indent="-101600" lvl="0" marL="228600" rtl="0" algn="l">
              <a:lnSpc>
                <a:spcPct val="90000"/>
              </a:lnSpc>
              <a:spcBef>
                <a:spcPts val="1000"/>
              </a:spcBef>
              <a:spcAft>
                <a:spcPts val="0"/>
              </a:spcAft>
              <a:buClr>
                <a:schemeClr val="lt1"/>
              </a:buClr>
              <a:buSzPts val="2000"/>
              <a:buNone/>
            </a:pPr>
            <a:r>
              <a:t/>
            </a:r>
            <a:endParaRPr sz="2000"/>
          </a:p>
        </p:txBody>
      </p:sp>
      <p:sp>
        <p:nvSpPr>
          <p:cNvPr id="195" name="Google Shape;195;p10"/>
          <p:cNvSpPr/>
          <p:nvPr/>
        </p:nvSpPr>
        <p:spPr>
          <a:xfrm flipH="1">
            <a:off x="6582780" y="-2008"/>
            <a:ext cx="5609220" cy="5840278"/>
          </a:xfrm>
          <a:custGeom>
            <a:rect b="b" l="l" r="r" t="t"/>
            <a:pathLst>
              <a:path extrusionOk="0" h="5840278" w="5609220">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196" name="Google Shape;196;p10"/>
          <p:cNvPicPr preferRelativeResize="0"/>
          <p:nvPr/>
        </p:nvPicPr>
        <p:blipFill rotWithShape="1">
          <a:blip r:embed="rId3">
            <a:alphaModFix/>
          </a:blip>
          <a:srcRect b="-1" l="10793" r="28579" t="0"/>
          <a:stretch/>
        </p:blipFill>
        <p:spPr>
          <a:xfrm>
            <a:off x="6750141" y="-2"/>
            <a:ext cx="5441859" cy="5654940"/>
          </a:xfrm>
          <a:custGeom>
            <a:rect b="b" l="l" r="r" t="t"/>
            <a:pathLst>
              <a:path extrusionOk="0" h="5654940" w="5441859">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noFill/>
          <a:ln>
            <a:noFill/>
          </a:ln>
        </p:spPr>
      </p:pic>
      <p:pic>
        <p:nvPicPr>
          <p:cNvPr descr="Le Tour de France – Jessica Ballard" id="197" name="Google Shape;197;p10"/>
          <p:cNvPicPr preferRelativeResize="0"/>
          <p:nvPr/>
        </p:nvPicPr>
        <p:blipFill rotWithShape="1">
          <a:blip r:embed="rId4">
            <a:alphaModFix/>
          </a:blip>
          <a:srcRect b="0" l="3067" r="48078" t="0"/>
          <a:stretch/>
        </p:blipFill>
        <p:spPr>
          <a:xfrm>
            <a:off x="0" y="5900435"/>
            <a:ext cx="1290867" cy="97121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1" name="Shape 201"/>
        <p:cNvGrpSpPr/>
        <p:nvPr/>
      </p:nvGrpSpPr>
      <p:grpSpPr>
        <a:xfrm>
          <a:off x="0" y="0"/>
          <a:ext cx="0" cy="0"/>
          <a:chOff x="0" y="0"/>
          <a:chExt cx="0" cy="0"/>
        </a:xfrm>
      </p:grpSpPr>
      <p:sp>
        <p:nvSpPr>
          <p:cNvPr id="202" name="Google Shape;202;p11"/>
          <p:cNvSpPr txBox="1"/>
          <p:nvPr>
            <p:ph type="title"/>
          </p:nvPr>
        </p:nvSpPr>
        <p:spPr>
          <a:xfrm>
            <a:off x="4965430" y="629268"/>
            <a:ext cx="6586491" cy="128616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Etape 2 – Flad etape</a:t>
            </a:r>
            <a:endParaRPr/>
          </a:p>
        </p:txBody>
      </p:sp>
      <p:sp>
        <p:nvSpPr>
          <p:cNvPr id="203" name="Google Shape;203;p11"/>
          <p:cNvSpPr txBox="1"/>
          <p:nvPr>
            <p:ph idx="1" type="body"/>
          </p:nvPr>
        </p:nvSpPr>
        <p:spPr>
          <a:xfrm>
            <a:off x="4965431" y="2438400"/>
            <a:ext cx="6586489" cy="378541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180 km efterfulgt af 20km højintensitetskørsel er lig med en sand sprinter etape. Her gælder det ikke kun om ren råstyrke, men ren faktisk om en sand for snilde, klogskab og snuhed. Her spilles de mest eksplosive ryttere op mod hinanden, men hvem kommer stærkest ud af massen?</a:t>
            </a:r>
            <a:endParaRPr/>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rPr b="1" lang="en-US" sz="2000"/>
              <a:t>Ruten:</a:t>
            </a:r>
            <a:endParaRPr/>
          </a:p>
          <a:p>
            <a:pPr indent="-228600" lvl="0" marL="228600" rtl="0" algn="l">
              <a:lnSpc>
                <a:spcPct val="90000"/>
              </a:lnSpc>
              <a:spcBef>
                <a:spcPts val="1000"/>
              </a:spcBef>
              <a:spcAft>
                <a:spcPts val="0"/>
              </a:spcAft>
              <a:buClr>
                <a:schemeClr val="dk1"/>
              </a:buClr>
              <a:buSzPts val="2000"/>
              <a:buChar char="•"/>
            </a:pPr>
            <a:r>
              <a:rPr lang="en-US" sz="2000"/>
              <a:t>Hver rytter får et kort. Her skal de hver satse på det kort, som de mener kommer først. (Hestevæddeløb med kort)</a:t>
            </a:r>
            <a:endParaRPr sz="2000"/>
          </a:p>
          <a:p>
            <a:pPr indent="-228600" lvl="0" marL="228600" rtl="0" algn="l">
              <a:lnSpc>
                <a:spcPct val="90000"/>
              </a:lnSpc>
              <a:spcBef>
                <a:spcPts val="1000"/>
              </a:spcBef>
              <a:spcAft>
                <a:spcPts val="0"/>
              </a:spcAft>
              <a:buSzPts val="2000"/>
              <a:buChar char="•"/>
            </a:pPr>
            <a:r>
              <a:rPr lang="en-US" sz="2000"/>
              <a:t>Den første ud af starthullerne får 10 point til den grønne trøje.</a:t>
            </a:r>
            <a:endParaRPr sz="2000"/>
          </a:p>
          <a:p>
            <a:pPr indent="-228600" lvl="0" marL="228600" rtl="0" algn="l">
              <a:lnSpc>
                <a:spcPct val="90000"/>
              </a:lnSpc>
              <a:spcBef>
                <a:spcPts val="1000"/>
              </a:spcBef>
              <a:spcAft>
                <a:spcPts val="0"/>
              </a:spcAft>
              <a:buSzPts val="2000"/>
              <a:buChar char="•"/>
            </a:pPr>
            <a:r>
              <a:rPr lang="en-US" sz="2000"/>
              <a:t>Første til tredje kort får 10 point til bjergkonkurrencen</a:t>
            </a:r>
            <a:endParaRPr sz="2000"/>
          </a:p>
          <a:p>
            <a:pPr indent="-101600" lvl="0" marL="228600" rtl="0" algn="l">
              <a:lnSpc>
                <a:spcPct val="90000"/>
              </a:lnSpc>
              <a:spcBef>
                <a:spcPts val="1000"/>
              </a:spcBef>
              <a:spcAft>
                <a:spcPts val="0"/>
              </a:spcAft>
              <a:buClr>
                <a:schemeClr val="dk1"/>
              </a:buClr>
              <a:buSzPts val="2000"/>
              <a:buNone/>
            </a:pPr>
            <a:r>
              <a:t/>
            </a:r>
            <a:endParaRPr sz="2000"/>
          </a:p>
        </p:txBody>
      </p:sp>
      <p:pic>
        <p:nvPicPr>
          <p:cNvPr id="204" name="Google Shape;204;p11"/>
          <p:cNvPicPr preferRelativeResize="0"/>
          <p:nvPr/>
        </p:nvPicPr>
        <p:blipFill rotWithShape="1">
          <a:blip r:embed="rId3">
            <a:alphaModFix/>
          </a:blip>
          <a:srcRect b="0" l="30739" r="31238" t="0"/>
          <a:stretch/>
        </p:blipFill>
        <p:spPr>
          <a:xfrm>
            <a:off x="20" y="10"/>
            <a:ext cx="4635571" cy="6857990"/>
          </a:xfrm>
          <a:prstGeom prst="rect">
            <a:avLst/>
          </a:prstGeom>
          <a:noFill/>
          <a:ln>
            <a:noFill/>
          </a:ln>
        </p:spPr>
      </p:pic>
      <p:cxnSp>
        <p:nvCxnSpPr>
          <p:cNvPr id="205" name="Google Shape;205;p11"/>
          <p:cNvCxnSpPr/>
          <p:nvPr/>
        </p:nvCxnSpPr>
        <p:spPr>
          <a:xfrm>
            <a:off x="5080934" y="2115117"/>
            <a:ext cx="6309360" cy="0"/>
          </a:xfrm>
          <a:prstGeom prst="straightConnector1">
            <a:avLst/>
          </a:prstGeom>
          <a:noFill/>
          <a:ln cap="flat" cmpd="sng" w="19050">
            <a:solidFill>
              <a:srgbClr val="BF9A5F"/>
            </a:solidFill>
            <a:prstDash val="solid"/>
            <a:miter lim="800000"/>
            <a:headEnd len="sm" w="sm" type="none"/>
            <a:tailEnd len="sm" w="sm" type="none"/>
          </a:ln>
        </p:spPr>
      </p:cxnSp>
      <p:pic>
        <p:nvPicPr>
          <p:cNvPr descr="Le Tour de France – Jessica Ballard" id="206" name="Google Shape;206;p11"/>
          <p:cNvPicPr preferRelativeResize="0"/>
          <p:nvPr/>
        </p:nvPicPr>
        <p:blipFill rotWithShape="1">
          <a:blip r:embed="rId4">
            <a:alphaModFix/>
          </a:blip>
          <a:srcRect b="0" l="0" r="23518" t="0"/>
          <a:stretch/>
        </p:blipFill>
        <p:spPr>
          <a:xfrm>
            <a:off x="9763238" y="2"/>
            <a:ext cx="2428753" cy="11672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0" name="Shape 210"/>
        <p:cNvGrpSpPr/>
        <p:nvPr/>
      </p:nvGrpSpPr>
      <p:grpSpPr>
        <a:xfrm>
          <a:off x="0" y="0"/>
          <a:ext cx="0" cy="0"/>
          <a:chOff x="0" y="0"/>
          <a:chExt cx="0" cy="0"/>
        </a:xfrm>
      </p:grpSpPr>
      <p:sp>
        <p:nvSpPr>
          <p:cNvPr id="211" name="Google Shape;211;p12"/>
          <p:cNvSpPr/>
          <p:nvPr/>
        </p:nvSpPr>
        <p:spPr>
          <a:xfrm>
            <a:off x="0" y="0"/>
            <a:ext cx="12192000" cy="6858000"/>
          </a:xfrm>
          <a:prstGeom prst="rect">
            <a:avLst/>
          </a:prstGeom>
          <a:solidFill>
            <a:srgbClr val="0C0C0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2" name="Google Shape;212;p12"/>
          <p:cNvSpPr txBox="1"/>
          <p:nvPr>
            <p:ph type="title"/>
          </p:nvPr>
        </p:nvSpPr>
        <p:spPr>
          <a:xfrm>
            <a:off x="838200" y="448721"/>
            <a:ext cx="4707671" cy="12256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800"/>
              <a:buFont typeface="Calibri"/>
              <a:buNone/>
            </a:pPr>
            <a:r>
              <a:rPr lang="en-US" sz="3800">
                <a:solidFill>
                  <a:schemeClr val="lt1"/>
                </a:solidFill>
              </a:rPr>
              <a:t>Etape 3 – Udbryder etapen</a:t>
            </a:r>
            <a:endParaRPr/>
          </a:p>
        </p:txBody>
      </p:sp>
      <p:cxnSp>
        <p:nvCxnSpPr>
          <p:cNvPr id="213" name="Google Shape;213;p12"/>
          <p:cNvCxnSpPr/>
          <p:nvPr/>
        </p:nvCxnSpPr>
        <p:spPr>
          <a:xfrm rot="10800000">
            <a:off x="831873" y="1749756"/>
            <a:ext cx="4718304" cy="0"/>
          </a:xfrm>
          <a:prstGeom prst="straightConnector1">
            <a:avLst/>
          </a:prstGeom>
          <a:noFill/>
          <a:ln cap="flat" cmpd="sng" w="12700">
            <a:solidFill>
              <a:schemeClr val="accent2"/>
            </a:solidFill>
            <a:prstDash val="solid"/>
            <a:miter lim="800000"/>
            <a:headEnd len="sm" w="sm" type="none"/>
            <a:tailEnd len="sm" w="sm" type="none"/>
          </a:ln>
        </p:spPr>
      </p:cxnSp>
      <p:sp>
        <p:nvSpPr>
          <p:cNvPr id="214" name="Google Shape;214;p12"/>
          <p:cNvSpPr txBox="1"/>
          <p:nvPr>
            <p:ph idx="1" type="body"/>
          </p:nvPr>
        </p:nvSpPr>
        <p:spPr>
          <a:xfrm>
            <a:off x="897769" y="1909192"/>
            <a:ext cx="4586513" cy="364771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000"/>
              <a:buNone/>
            </a:pPr>
            <a:r>
              <a:rPr lang="en-US" sz="2000">
                <a:solidFill>
                  <a:schemeClr val="lt1"/>
                </a:solidFill>
              </a:rPr>
              <a:t>En undervurderet etape form, hvis I spørger mig. Her kræver det snilde som cykelekspert at se rytteren med de stærkeste ben. Som regel har rytterne også forskellige dagsordner og det kan være svært at lure, hvorfor lige præcis den rytter er i udbrud. </a:t>
            </a:r>
            <a:endParaRPr/>
          </a:p>
          <a:p>
            <a:pPr indent="0" lvl="0" marL="0" rtl="0" algn="l">
              <a:lnSpc>
                <a:spcPct val="90000"/>
              </a:lnSpc>
              <a:spcBef>
                <a:spcPts val="1000"/>
              </a:spcBef>
              <a:spcAft>
                <a:spcPts val="0"/>
              </a:spcAft>
              <a:buClr>
                <a:schemeClr val="dk1"/>
              </a:buClr>
              <a:buSzPts val="2000"/>
              <a:buNone/>
            </a:pPr>
            <a:r>
              <a:t/>
            </a:r>
            <a:endParaRPr sz="2000">
              <a:solidFill>
                <a:schemeClr val="lt1"/>
              </a:solidFill>
            </a:endParaRPr>
          </a:p>
          <a:p>
            <a:pPr indent="0" lvl="0" marL="0" rtl="0" algn="l">
              <a:lnSpc>
                <a:spcPct val="90000"/>
              </a:lnSpc>
              <a:spcBef>
                <a:spcPts val="1000"/>
              </a:spcBef>
              <a:spcAft>
                <a:spcPts val="0"/>
              </a:spcAft>
              <a:buClr>
                <a:schemeClr val="lt1"/>
              </a:buClr>
              <a:buSzPts val="2000"/>
              <a:buNone/>
            </a:pPr>
            <a:r>
              <a:rPr b="1" lang="en-US" sz="2000">
                <a:solidFill>
                  <a:schemeClr val="lt1"/>
                </a:solidFill>
              </a:rPr>
              <a:t>Ruten:</a:t>
            </a:r>
            <a:endParaRPr/>
          </a:p>
          <a:p>
            <a:pPr indent="0" lvl="0" marL="0" rtl="0" algn="l">
              <a:lnSpc>
                <a:spcPct val="90000"/>
              </a:lnSpc>
              <a:spcBef>
                <a:spcPts val="1000"/>
              </a:spcBef>
              <a:spcAft>
                <a:spcPts val="0"/>
              </a:spcAft>
              <a:buClr>
                <a:schemeClr val="lt1"/>
              </a:buClr>
              <a:buSzPts val="2000"/>
              <a:buNone/>
            </a:pPr>
            <a:r>
              <a:rPr lang="en-US" sz="2000">
                <a:solidFill>
                  <a:schemeClr val="lt1"/>
                </a:solidFill>
              </a:rPr>
              <a:t>M</a:t>
            </a:r>
            <a:r>
              <a:rPr lang="en-US" sz="2000">
                <a:solidFill>
                  <a:schemeClr val="lt1"/>
                </a:solidFill>
              </a:rPr>
              <a:t>usikquiz</a:t>
            </a:r>
            <a:endParaRPr/>
          </a:p>
        </p:txBody>
      </p:sp>
      <p:cxnSp>
        <p:nvCxnSpPr>
          <p:cNvPr id="215" name="Google Shape;215;p12"/>
          <p:cNvCxnSpPr/>
          <p:nvPr/>
        </p:nvCxnSpPr>
        <p:spPr>
          <a:xfrm rot="10800000">
            <a:off x="834027" y="5707672"/>
            <a:ext cx="4713997" cy="0"/>
          </a:xfrm>
          <a:prstGeom prst="straightConnector1">
            <a:avLst/>
          </a:prstGeom>
          <a:noFill/>
          <a:ln cap="flat" cmpd="sng" w="12700">
            <a:solidFill>
              <a:schemeClr val="accent2"/>
            </a:solidFill>
            <a:prstDash val="solid"/>
            <a:miter lim="800000"/>
            <a:headEnd len="sm" w="sm" type="none"/>
            <a:tailEnd len="sm" w="sm" type="none"/>
          </a:ln>
        </p:spPr>
      </p:cxnSp>
      <p:pic>
        <p:nvPicPr>
          <p:cNvPr descr="Bjafle.dk - tanker omkring et aktivt liv i naturen: Tour tid - Det bliver  alt for vildt! Ikke mere fodbold." id="216" name="Google Shape;216;p12"/>
          <p:cNvPicPr preferRelativeResize="0"/>
          <p:nvPr/>
        </p:nvPicPr>
        <p:blipFill rotWithShape="1">
          <a:blip r:embed="rId3">
            <a:alphaModFix/>
          </a:blip>
          <a:srcRect b="19214" l="0" r="0" t="0"/>
          <a:stretch/>
        </p:blipFill>
        <p:spPr>
          <a:xfrm>
            <a:off x="6525453" y="10"/>
            <a:ext cx="5666547" cy="6857990"/>
          </a:xfrm>
          <a:prstGeom prst="rect">
            <a:avLst/>
          </a:prstGeom>
          <a:noFill/>
          <a:ln>
            <a:noFill/>
          </a:ln>
        </p:spPr>
      </p:pic>
      <p:pic>
        <p:nvPicPr>
          <p:cNvPr descr="Le Tour de France – Jessica Ballard" id="217" name="Google Shape;217;p12"/>
          <p:cNvPicPr preferRelativeResize="0"/>
          <p:nvPr/>
        </p:nvPicPr>
        <p:blipFill rotWithShape="1">
          <a:blip r:embed="rId4">
            <a:alphaModFix/>
          </a:blip>
          <a:srcRect b="0" l="0" r="23518" t="0"/>
          <a:stretch/>
        </p:blipFill>
        <p:spPr>
          <a:xfrm>
            <a:off x="-4387" y="5996434"/>
            <a:ext cx="1831607" cy="88028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1" name="Shape 221"/>
        <p:cNvGrpSpPr/>
        <p:nvPr/>
      </p:nvGrpSpPr>
      <p:grpSpPr>
        <a:xfrm>
          <a:off x="0" y="0"/>
          <a:ext cx="0" cy="0"/>
          <a:chOff x="0" y="0"/>
          <a:chExt cx="0" cy="0"/>
        </a:xfrm>
      </p:grpSpPr>
      <p:sp>
        <p:nvSpPr>
          <p:cNvPr id="222" name="Google Shape;222;p13"/>
          <p:cNvSpPr txBox="1"/>
          <p:nvPr>
            <p:ph type="title"/>
          </p:nvPr>
        </p:nvSpPr>
        <p:spPr>
          <a:xfrm>
            <a:off x="4965430" y="629268"/>
            <a:ext cx="6586491" cy="128616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Etape 4 – Bjerg etapen</a:t>
            </a:r>
            <a:endParaRPr/>
          </a:p>
        </p:txBody>
      </p:sp>
      <p:sp>
        <p:nvSpPr>
          <p:cNvPr id="223" name="Google Shape;223;p13"/>
          <p:cNvSpPr txBox="1"/>
          <p:nvPr>
            <p:ph idx="1" type="body"/>
          </p:nvPr>
        </p:nvSpPr>
        <p:spPr>
          <a:xfrm>
            <a:off x="4965431" y="2438400"/>
            <a:ext cx="6586489" cy="378541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None/>
            </a:pPr>
            <a:r>
              <a:rPr lang="en-US" sz="1600"/>
              <a:t>Hvorfor ser du cykling? Ja et svar findes der. Bjergetaper. Her afgøres etapeløb, da de stærkeste, mest letbenet ryttere finder hurtigst vej op af utallige højdemeter. Men til dette kræver det præcision når angrebet skal sættes ind og nok fire-power til at stikke af fra de andre konkurrenter. </a:t>
            </a:r>
            <a:endParaRPr sz="1600"/>
          </a:p>
          <a:p>
            <a:pPr indent="0" lvl="0" marL="0" rtl="0" algn="l">
              <a:lnSpc>
                <a:spcPct val="90000"/>
              </a:lnSpc>
              <a:spcBef>
                <a:spcPts val="0"/>
              </a:spcBef>
              <a:spcAft>
                <a:spcPts val="0"/>
              </a:spcAft>
              <a:buClr>
                <a:schemeClr val="dk1"/>
              </a:buClr>
              <a:buSzPts val="1600"/>
              <a:buNone/>
            </a:pPr>
            <a:r>
              <a:t/>
            </a:r>
            <a:endParaRPr sz="1600"/>
          </a:p>
          <a:p>
            <a:pPr indent="0" lvl="0" marL="0" rtl="0" algn="l">
              <a:lnSpc>
                <a:spcPct val="90000"/>
              </a:lnSpc>
              <a:spcBef>
                <a:spcPts val="1000"/>
              </a:spcBef>
              <a:spcAft>
                <a:spcPts val="0"/>
              </a:spcAft>
              <a:buClr>
                <a:schemeClr val="dk1"/>
              </a:buClr>
              <a:buSzPts val="1600"/>
              <a:buNone/>
            </a:pPr>
            <a:r>
              <a:rPr b="1" lang="en-US" sz="1600"/>
              <a:t>Ruten: </a:t>
            </a:r>
            <a:endParaRPr/>
          </a:p>
          <a:p>
            <a:pPr indent="-215900" lvl="0" marL="228600" rtl="0" algn="l">
              <a:lnSpc>
                <a:spcPct val="107916"/>
              </a:lnSpc>
              <a:spcBef>
                <a:spcPts val="0"/>
              </a:spcBef>
              <a:spcAft>
                <a:spcPts val="0"/>
              </a:spcAft>
              <a:buSzPts val="1600"/>
              <a:buFont typeface="Calibri"/>
              <a:buChar char="•"/>
            </a:pPr>
            <a:r>
              <a:rPr lang="en-US" sz="1600"/>
              <a:t>Skyd beerpong skud - Dem der rammer stikker af fra dem som ikke rammer</a:t>
            </a:r>
            <a:endParaRPr sz="1600"/>
          </a:p>
          <a:p>
            <a:pPr indent="-215900" lvl="0" marL="228600" rtl="0" algn="l">
              <a:lnSpc>
                <a:spcPct val="107916"/>
              </a:lnSpc>
              <a:spcBef>
                <a:spcPts val="0"/>
              </a:spcBef>
              <a:spcAft>
                <a:spcPts val="0"/>
              </a:spcAft>
              <a:buSzPts val="1600"/>
              <a:buFont typeface="Calibri"/>
              <a:buChar char="•"/>
            </a:pPr>
            <a:r>
              <a:rPr lang="en-US" sz="1600"/>
              <a:t>Dem der er stukket af slår med to tegninger - Dette er svarende til de sekunder, som rytteren eller rytterne får på dem som ikke ramte beerpong-skudet.</a:t>
            </a:r>
            <a:endParaRPr sz="1600"/>
          </a:p>
          <a:p>
            <a:pPr indent="-215900" lvl="0" marL="228600" rtl="0" algn="l">
              <a:lnSpc>
                <a:spcPct val="107916"/>
              </a:lnSpc>
              <a:spcBef>
                <a:spcPts val="0"/>
              </a:spcBef>
              <a:spcAft>
                <a:spcPts val="0"/>
              </a:spcAft>
              <a:buSzPts val="1600"/>
              <a:buFont typeface="Calibri"/>
              <a:buChar char="•"/>
            </a:pPr>
            <a:r>
              <a:rPr lang="en-US" sz="1600"/>
              <a:t>Alle bunder en bajer på kortest tid. Dem som var stukket af, får minusset de antal sekunder som de slog med terninger med deres bundet-bajer-tid. </a:t>
            </a:r>
            <a:endParaRPr/>
          </a:p>
          <a:p>
            <a:pPr indent="-127000" lvl="0" marL="228600" rtl="0" algn="l">
              <a:lnSpc>
                <a:spcPct val="90000"/>
              </a:lnSpc>
              <a:spcBef>
                <a:spcPts val="1000"/>
              </a:spcBef>
              <a:spcAft>
                <a:spcPts val="0"/>
              </a:spcAft>
              <a:buClr>
                <a:schemeClr val="dk1"/>
              </a:buClr>
              <a:buSzPts val="1600"/>
              <a:buNone/>
            </a:pPr>
            <a:r>
              <a:t/>
            </a:r>
            <a:endParaRPr sz="1600"/>
          </a:p>
        </p:txBody>
      </p:sp>
      <p:pic>
        <p:nvPicPr>
          <p:cNvPr id="224" name="Google Shape;224;p13"/>
          <p:cNvPicPr preferRelativeResize="0"/>
          <p:nvPr/>
        </p:nvPicPr>
        <p:blipFill rotWithShape="1">
          <a:blip r:embed="rId3">
            <a:alphaModFix/>
          </a:blip>
          <a:srcRect b="2" l="30931" r="28682" t="0"/>
          <a:stretch/>
        </p:blipFill>
        <p:spPr>
          <a:xfrm>
            <a:off x="20" y="10"/>
            <a:ext cx="4635571" cy="6857990"/>
          </a:xfrm>
          <a:prstGeom prst="rect">
            <a:avLst/>
          </a:prstGeom>
          <a:noFill/>
          <a:ln>
            <a:noFill/>
          </a:ln>
        </p:spPr>
      </p:pic>
      <p:cxnSp>
        <p:nvCxnSpPr>
          <p:cNvPr id="225" name="Google Shape;225;p13"/>
          <p:cNvCxnSpPr/>
          <p:nvPr/>
        </p:nvCxnSpPr>
        <p:spPr>
          <a:xfrm>
            <a:off x="5080934" y="2115117"/>
            <a:ext cx="6309360" cy="0"/>
          </a:xfrm>
          <a:prstGeom prst="straightConnector1">
            <a:avLst/>
          </a:prstGeom>
          <a:noFill/>
          <a:ln cap="flat" cmpd="sng" w="19050">
            <a:solidFill>
              <a:srgbClr val="FEFD95"/>
            </a:solidFill>
            <a:prstDash val="solid"/>
            <a:miter lim="800000"/>
            <a:headEnd len="sm" w="sm" type="none"/>
            <a:tailEnd len="sm" w="sm" type="none"/>
          </a:ln>
        </p:spPr>
      </p:cxnSp>
      <p:pic>
        <p:nvPicPr>
          <p:cNvPr descr="Le Tour de France – Jessica Ballard" id="226" name="Google Shape;226;p13"/>
          <p:cNvPicPr preferRelativeResize="0"/>
          <p:nvPr/>
        </p:nvPicPr>
        <p:blipFill rotWithShape="1">
          <a:blip r:embed="rId4">
            <a:alphaModFix/>
          </a:blip>
          <a:srcRect b="0" l="0" r="71372" t="0"/>
          <a:stretch/>
        </p:blipFill>
        <p:spPr>
          <a:xfrm>
            <a:off x="10886235" y="5977719"/>
            <a:ext cx="685579" cy="880281"/>
          </a:xfrm>
          <a:prstGeom prst="rect">
            <a:avLst/>
          </a:prstGeom>
          <a:noFill/>
          <a:ln>
            <a:noFill/>
          </a:ln>
        </p:spPr>
      </p:pic>
      <p:pic>
        <p:nvPicPr>
          <p:cNvPr descr="Le Tour de France – Jessica Ballard" id="227" name="Google Shape;227;p13"/>
          <p:cNvPicPr preferRelativeResize="0"/>
          <p:nvPr/>
        </p:nvPicPr>
        <p:blipFill rotWithShape="1">
          <a:blip r:embed="rId4">
            <a:alphaModFix/>
          </a:blip>
          <a:srcRect b="0" l="51713" r="23518" t="0"/>
          <a:stretch/>
        </p:blipFill>
        <p:spPr>
          <a:xfrm>
            <a:off x="11591709" y="5977719"/>
            <a:ext cx="593166" cy="88028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 name="Shape 231"/>
        <p:cNvGrpSpPr/>
        <p:nvPr/>
      </p:nvGrpSpPr>
      <p:grpSpPr>
        <a:xfrm>
          <a:off x="0" y="0"/>
          <a:ext cx="0" cy="0"/>
          <a:chOff x="0" y="0"/>
          <a:chExt cx="0" cy="0"/>
        </a:xfrm>
      </p:grpSpPr>
      <p:sp>
        <p:nvSpPr>
          <p:cNvPr id="232" name="Google Shape;232;p14"/>
          <p:cNvSpPr txBox="1"/>
          <p:nvPr>
            <p:ph type="title"/>
          </p:nvPr>
        </p:nvSpPr>
        <p:spPr>
          <a:xfrm>
            <a:off x="451412" y="365134"/>
            <a:ext cx="5120114" cy="169279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Etape 5 – Champs-Élysées</a:t>
            </a:r>
            <a:endParaRPr/>
          </a:p>
        </p:txBody>
      </p:sp>
      <p:cxnSp>
        <p:nvCxnSpPr>
          <p:cNvPr id="233" name="Google Shape;233;p14"/>
          <p:cNvCxnSpPr/>
          <p:nvPr/>
        </p:nvCxnSpPr>
        <p:spPr>
          <a:xfrm>
            <a:off x="655320" y="2316480"/>
            <a:ext cx="4572000" cy="0"/>
          </a:xfrm>
          <a:prstGeom prst="straightConnector1">
            <a:avLst/>
          </a:prstGeom>
          <a:noFill/>
          <a:ln cap="sq" cmpd="sng" w="19050">
            <a:solidFill>
              <a:schemeClr val="dk1"/>
            </a:solidFill>
            <a:prstDash val="solid"/>
            <a:miter lim="800000"/>
            <a:headEnd len="sm" w="sm" type="none"/>
            <a:tailEnd len="sm" w="sm" type="none"/>
          </a:ln>
        </p:spPr>
      </p:cxnSp>
      <p:sp>
        <p:nvSpPr>
          <p:cNvPr id="234" name="Google Shape;234;p14"/>
          <p:cNvSpPr txBox="1"/>
          <p:nvPr>
            <p:ph idx="1" type="body"/>
          </p:nvPr>
        </p:nvSpPr>
        <p:spPr>
          <a:xfrm>
            <a:off x="451412" y="2575033"/>
            <a:ext cx="5644587" cy="4091959"/>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1850"/>
              <a:buNone/>
            </a:pPr>
            <a:r>
              <a:rPr lang="en-US" sz="1850"/>
              <a:t>Arh drømmen for hver rytter, at nå Paris i et stykke. At se Champs-Élysées og de mange tusinde brosten. At se Triumfbuen og Eiffeltårnet. Men vent, det er sidste etape og en flad en af slagsen. Det er sidste chance for rytterne til at vise hvem der stærkest i en spurt. Eller kan det blive et ren Vinokourov-mirakel, hvor en rytter snyder feltet og sejr på sidste dagen af Tour de France? </a:t>
            </a:r>
            <a:endParaRPr/>
          </a:p>
          <a:p>
            <a:pPr indent="0" lvl="0" marL="0" rtl="0" algn="l">
              <a:lnSpc>
                <a:spcPct val="80000"/>
              </a:lnSpc>
              <a:spcBef>
                <a:spcPts val="1000"/>
              </a:spcBef>
              <a:spcAft>
                <a:spcPts val="0"/>
              </a:spcAft>
              <a:buClr>
                <a:schemeClr val="dk1"/>
              </a:buClr>
              <a:buSzPts val="1850"/>
              <a:buNone/>
            </a:pPr>
            <a:r>
              <a:t/>
            </a:r>
            <a:endParaRPr sz="1850"/>
          </a:p>
          <a:p>
            <a:pPr indent="0" lvl="0" marL="0" rtl="0" algn="l">
              <a:lnSpc>
                <a:spcPct val="80000"/>
              </a:lnSpc>
              <a:spcBef>
                <a:spcPts val="1000"/>
              </a:spcBef>
              <a:spcAft>
                <a:spcPts val="0"/>
              </a:spcAft>
              <a:buClr>
                <a:schemeClr val="dk1"/>
              </a:buClr>
              <a:buSzPts val="1850"/>
              <a:buNone/>
            </a:pPr>
            <a:r>
              <a:rPr b="1" lang="en-US" sz="1850"/>
              <a:t>Ruten:</a:t>
            </a:r>
            <a:endParaRPr b="1" sz="1850"/>
          </a:p>
          <a:p>
            <a:pPr indent="-231775" lvl="0" marL="228600" rtl="0" algn="l">
              <a:lnSpc>
                <a:spcPct val="107916"/>
              </a:lnSpc>
              <a:spcBef>
                <a:spcPts val="0"/>
              </a:spcBef>
              <a:spcAft>
                <a:spcPts val="0"/>
              </a:spcAft>
              <a:buSzPts val="1850"/>
              <a:buFont typeface="Calibri"/>
              <a:buChar char="•"/>
            </a:pPr>
            <a:r>
              <a:rPr lang="en-US" sz="1850"/>
              <a:t>Alle tager et beerpong skud. De der klarer det er videre til Knock-out (Carrot in the Box). Hvis kun en klarer den, så sker et Vinokourov-mirakel. </a:t>
            </a:r>
            <a:endParaRPr sz="1850"/>
          </a:p>
          <a:p>
            <a:pPr indent="-231775" lvl="0" marL="228600" rtl="0" algn="l">
              <a:lnSpc>
                <a:spcPct val="107916"/>
              </a:lnSpc>
              <a:spcBef>
                <a:spcPts val="0"/>
              </a:spcBef>
              <a:spcAft>
                <a:spcPts val="0"/>
              </a:spcAft>
              <a:buSzPts val="1850"/>
              <a:buFont typeface="Calibri"/>
              <a:buChar char="•"/>
            </a:pPr>
            <a:r>
              <a:rPr lang="en-US" sz="1850"/>
              <a:t>Hvis der sker et Vinokourov-mirakel, så slår personen med to terninger. Antallet øjne på terningerne svare til antal sekunder.</a:t>
            </a:r>
            <a:endParaRPr sz="1850"/>
          </a:p>
          <a:p>
            <a:pPr indent="0" lvl="0" marL="0" rtl="0" algn="l">
              <a:lnSpc>
                <a:spcPct val="80000"/>
              </a:lnSpc>
              <a:spcBef>
                <a:spcPts val="1000"/>
              </a:spcBef>
              <a:spcAft>
                <a:spcPts val="0"/>
              </a:spcAft>
              <a:buClr>
                <a:schemeClr val="dk1"/>
              </a:buClr>
              <a:buSzPts val="1850"/>
              <a:buNone/>
            </a:pPr>
            <a:r>
              <a:t/>
            </a:r>
            <a:endParaRPr sz="1850"/>
          </a:p>
        </p:txBody>
      </p:sp>
      <p:pic>
        <p:nvPicPr>
          <p:cNvPr descr="A group of people posing for the camera&#10;&#10;Description automatically generated" id="235" name="Google Shape;235;p14"/>
          <p:cNvPicPr preferRelativeResize="0"/>
          <p:nvPr/>
        </p:nvPicPr>
        <p:blipFill rotWithShape="1">
          <a:blip r:embed="rId3">
            <a:alphaModFix/>
          </a:blip>
          <a:srcRect b="0" l="39594" r="7933" t="0"/>
          <a:stretch/>
        </p:blipFill>
        <p:spPr>
          <a:xfrm>
            <a:off x="5878850" y="0"/>
            <a:ext cx="6313150" cy="6857987"/>
          </a:xfrm>
          <a:custGeom>
            <a:rect b="b" l="l" r="r" t="t"/>
            <a:pathLst>
              <a:path extrusionOk="0" h="6857997" w="6313150">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noFill/>
          <a:ln>
            <a:noFill/>
          </a:ln>
        </p:spPr>
      </p:pic>
      <p:pic>
        <p:nvPicPr>
          <p:cNvPr descr="Le Tour de France – Jessica Ballard" id="236" name="Google Shape;236;p14"/>
          <p:cNvPicPr preferRelativeResize="0"/>
          <p:nvPr/>
        </p:nvPicPr>
        <p:blipFill rotWithShape="1">
          <a:blip r:embed="rId4">
            <a:alphaModFix/>
          </a:blip>
          <a:srcRect b="0" l="0" r="48105" t="0"/>
          <a:stretch/>
        </p:blipFill>
        <p:spPr>
          <a:xfrm>
            <a:off x="6049188" y="5690727"/>
            <a:ext cx="1647977" cy="116727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2020-09-15T19:49:27Z</dcterms:created>
  <dc:creator>Simon Mathias Hansen</dc:creator>
</cp:coreProperties>
</file>